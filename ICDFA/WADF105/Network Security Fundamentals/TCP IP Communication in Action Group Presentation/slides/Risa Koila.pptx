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81" r:id="rId3"/>
    <p:sldId id="282"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74" autoAdjust="0"/>
  </p:normalViewPr>
  <p:slideViewPr>
    <p:cSldViewPr snapToGrid="0">
      <p:cViewPr varScale="1">
        <p:scale>
          <a:sx n="64" d="100"/>
          <a:sy n="64" d="100"/>
        </p:scale>
        <p:origin x="954"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1F4B8-9CA4-0952-8EB1-46BA122C4F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D43CAC8D-28F6-6585-429E-474F02BEB2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FE2CC1A-486D-5E96-466C-C45BC9B08329}"/>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3871A46E-4746-4A8E-0BA9-72D0147A77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F02D95-7C1B-E683-6C60-CD1E1339434F}"/>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4786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36BF1-8F0E-BEC7-FFB9-6616058B844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34A176F-9B15-80E4-876D-C4B04DE1B5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B4B9345-0C88-4893-B489-785E40A585E1}"/>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F69C436E-9F2C-6080-9306-16BB6B853B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3D84D94-9F0D-F2AB-1BC1-2E604702F4D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885777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BE8F-4AD1-0D0F-E328-2487319ED6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37B8D72A-E8CA-662D-4D35-18BE9F85E3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ED0972-B39C-0191-CF64-F3EF7745FED9}"/>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607F9B55-4DD5-2C53-C2FB-FA895E8D88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420F9B-DD5F-9C5C-05FD-8646C843E65A}"/>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3835333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A473D-2C48-FEF3-FDC9-7D71A643CA2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7E602F1-6B76-579F-DB89-AC4ADD2901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45B2CE4-A37E-C3E6-39B2-742D34D244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20112AE-01CB-A013-A6EA-A7694866CE30}"/>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F635CD07-C0C3-4FE2-6D8A-57BB35DD67A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9D01CE4-90C1-67BC-DCFF-05FCE2AA6662}"/>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965002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C9CFB-87AB-0976-96A3-0F6BC8DBD81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7962B77-E9EC-9765-E3E8-6DCFAA12D0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6E90DF-8F78-029B-D074-35AEAA6696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37ABB5C-58A3-4621-612B-B17A010F4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82976B-D039-9DBE-BDD6-0942244D9E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C549A1F-480A-2838-0E41-87A05D1D3A4F}"/>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8" name="Footer Placeholder 7">
            <a:extLst>
              <a:ext uri="{FF2B5EF4-FFF2-40B4-BE49-F238E27FC236}">
                <a16:creationId xmlns:a16="http://schemas.microsoft.com/office/drawing/2014/main" id="{57346401-F11F-7D3C-4419-730F2DCA406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58C478-39F6-EAE7-9FD3-ABA4325DB90F}"/>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99892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39EDD-854F-9F92-00C9-8DB337B7024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F87D858-C943-3604-D946-EE6DFCE9481A}"/>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4" name="Footer Placeholder 3">
            <a:extLst>
              <a:ext uri="{FF2B5EF4-FFF2-40B4-BE49-F238E27FC236}">
                <a16:creationId xmlns:a16="http://schemas.microsoft.com/office/drawing/2014/main" id="{00450146-EB8F-704A-774F-0BE38E959B2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9C225F-B14D-3736-5493-53C39A835741}"/>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2253293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43AD5-40A0-6681-D5AA-926A5AEE09B1}"/>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3" name="Footer Placeholder 2">
            <a:extLst>
              <a:ext uri="{FF2B5EF4-FFF2-40B4-BE49-F238E27FC236}">
                <a16:creationId xmlns:a16="http://schemas.microsoft.com/office/drawing/2014/main" id="{439398C4-74F4-8641-E07C-F13BF03AD11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0D9CAA1-D1C7-0832-8933-3E78FEF8AB8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4016932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C171C-98C3-8179-7274-7386ECF009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D355A97-D0BE-DF04-69E8-DD982C2D3B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863894A-14A5-B6A2-256E-2A8A39BC6C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794145-F4A3-496E-8362-9CFC5885A495}"/>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6FDCA442-7578-DA7B-2358-C60ED436A15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C0F500D-4C9B-D63C-CF5B-2703125815C0}"/>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2990812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493C9-C621-E0F9-4465-4C7F7676AD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B122C33-0A75-C9B7-98B8-F122924EA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E1F75CB-DBFF-EFB7-07CB-23FB0A087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BAE2E-72A0-08D8-E61A-D1536F2B433C}"/>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6" name="Footer Placeholder 5">
            <a:extLst>
              <a:ext uri="{FF2B5EF4-FFF2-40B4-BE49-F238E27FC236}">
                <a16:creationId xmlns:a16="http://schemas.microsoft.com/office/drawing/2014/main" id="{5BA02581-BEF4-A13F-13C3-666C70D267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9981AF-5DCD-6D4C-7E49-850D27F80262}"/>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7427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52D2-1E60-967A-99D4-51517612E71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9BA6B76-3B20-3765-F857-1E92ACF188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61E49B-41B4-C7DE-2219-B17AD8C96DBB}"/>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B8329806-7431-99D3-6717-1C4DBF5B7C3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46AC0-2A27-0F23-C355-EE85A34A6CDE}"/>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35468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945884-2779-FA47-2207-B832B4AAD37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A694D2-9472-64D1-74D3-59E361B0EF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31E0B0-032D-E52F-C25C-5F312D63F925}"/>
              </a:ext>
            </a:extLst>
          </p:cNvPr>
          <p:cNvSpPr>
            <a:spLocks noGrp="1"/>
          </p:cNvSpPr>
          <p:nvPr>
            <p:ph type="dt" sz="half" idx="10"/>
          </p:nvPr>
        </p:nvSpPr>
        <p:spPr/>
        <p:txBody>
          <a:body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EAEA9F16-139C-928A-473B-24F63B20B1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23ECBEC-5980-2F61-BF30-EEBEEF092CD1}"/>
              </a:ext>
            </a:extLst>
          </p:cNvPr>
          <p:cNvSpPr>
            <a:spLocks noGrp="1"/>
          </p:cNvSpPr>
          <p:nvPr>
            <p:ph type="sldNum" sz="quarter" idx="12"/>
          </p:nvPr>
        </p:nvSpPr>
        <p:spPr/>
        <p:txBody>
          <a:bodyPr/>
          <a:lstStyle/>
          <a:p>
            <a:fld id="{9B56AFDA-01E1-413F-9485-75BEF0CA0FF9}" type="slidenum">
              <a:rPr lang="en-GB" smtClean="0"/>
              <a:t>‹#›</a:t>
            </a:fld>
            <a:endParaRPr lang="en-GB"/>
          </a:p>
        </p:txBody>
      </p:sp>
    </p:spTree>
    <p:extLst>
      <p:ext uri="{BB962C8B-B14F-4D97-AF65-F5344CB8AC3E}">
        <p14:creationId xmlns:p14="http://schemas.microsoft.com/office/powerpoint/2010/main" val="1224290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61F38-C2F5-928A-0623-C87E4E01BA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92C777D-437F-FF40-9623-6743ACFF89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74F9A-19EA-4CA3-57D2-062E2DEAF1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CC629A-8AC0-4A44-BBC6-BD57822E8B8E}" type="datetimeFigureOut">
              <a:rPr lang="en-GB" smtClean="0"/>
              <a:t>01/10/2026</a:t>
            </a:fld>
            <a:endParaRPr lang="en-GB"/>
          </a:p>
        </p:txBody>
      </p:sp>
      <p:sp>
        <p:nvSpPr>
          <p:cNvPr id="5" name="Footer Placeholder 4">
            <a:extLst>
              <a:ext uri="{FF2B5EF4-FFF2-40B4-BE49-F238E27FC236}">
                <a16:creationId xmlns:a16="http://schemas.microsoft.com/office/drawing/2014/main" id="{19B4F79F-C659-C7AF-59BA-9C14F0A028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633DA5F-18B6-67FE-244A-2F2BBF997B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6AFDA-01E1-413F-9485-75BEF0CA0FF9}" type="slidenum">
              <a:rPr lang="en-GB" smtClean="0"/>
              <a:t>‹#›</a:t>
            </a:fld>
            <a:endParaRPr lang="en-GB"/>
          </a:p>
        </p:txBody>
      </p:sp>
    </p:spTree>
    <p:extLst>
      <p:ext uri="{BB962C8B-B14F-4D97-AF65-F5344CB8AC3E}">
        <p14:creationId xmlns:p14="http://schemas.microsoft.com/office/powerpoint/2010/main" val="36964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C51C0-07D4-50E6-E4D3-70AAFAE0131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BF44996-AC82-BBC1-71A4-72F826785C02}"/>
              </a:ext>
            </a:extLst>
          </p:cNvPr>
          <p:cNvSpPr txBox="1"/>
          <p:nvPr/>
        </p:nvSpPr>
        <p:spPr>
          <a:xfrm>
            <a:off x="534102" y="1151814"/>
            <a:ext cx="11123794" cy="1467966"/>
          </a:xfrm>
          <a:prstGeom prst="rect">
            <a:avLst/>
          </a:prstGeom>
          <a:noFill/>
        </p:spPr>
        <p:txBody>
          <a:bodyPr wrap="square">
            <a:spAutoFit/>
          </a:bodyPr>
          <a:lstStyle/>
          <a:p>
            <a:pPr marL="0" marR="0">
              <a:lnSpc>
                <a:spcPct val="107000"/>
              </a:lnSpc>
              <a:spcAft>
                <a:spcPts val="800"/>
              </a:spcAft>
              <a:buNone/>
            </a:pPr>
            <a:r>
              <a:rPr lang="en-GB" sz="1800" b="1" kern="100" dirty="0">
                <a:effectLst/>
                <a:latin typeface="Segoe UI Emoji" panose="020B0502040204020203" pitchFamily="34" charset="0"/>
                <a:ea typeface="Calibri" panose="020F0502020204030204" pitchFamily="34" charset="0"/>
                <a:cs typeface="Segoe UI Emoji" panose="020B0502040204020203" pitchFamily="34" charset="0"/>
              </a:rPr>
              <a:t>Network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Segoe UI Emoji" panose="020B0502040204020203" pitchFamily="34" charset="0"/>
                <a:ea typeface="Calibri" panose="020F0502020204030204" pitchFamily="34" charset="0"/>
                <a:cs typeface="Segoe UI Emoji" panose="020B0502040204020203" pitchFamily="34" charset="0"/>
              </a:rPr>
              <a:t>The transport layer is responsible for establishing connections between processes on hosts, and the network layer is responsible for transmitting data from one host to another.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Segoe UI Emoji" panose="020B0502040204020203" pitchFamily="34" charset="0"/>
                <a:ea typeface="Calibri" panose="020F0502020204030204" pitchFamily="34" charset="0"/>
                <a:cs typeface="Segoe UI Emoji" panose="020B0502040204020203" pitchFamily="34" charset="0"/>
              </a:rPr>
              <a:t>PDUs transmitted at the network layer are called packets.</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478DC119-2351-C7D5-B9F1-B068C6783EFD}"/>
              </a:ext>
            </a:extLst>
          </p:cNvPr>
          <p:cNvSpPr txBox="1"/>
          <p:nvPr/>
        </p:nvSpPr>
        <p:spPr>
          <a:xfrm>
            <a:off x="578124" y="2863585"/>
            <a:ext cx="8690211" cy="1971374"/>
          </a:xfrm>
          <a:prstGeom prst="rect">
            <a:avLst/>
          </a:prstGeom>
          <a:noFill/>
        </p:spPr>
        <p:txBody>
          <a:bodyPr wrap="square">
            <a:spAutoFit/>
          </a:bodyPr>
          <a:lstStyle/>
          <a:p>
            <a:pPr marL="0" marR="0">
              <a:lnSpc>
                <a:spcPct val="107000"/>
              </a:lnSpc>
              <a:spcAft>
                <a:spcPts val="800"/>
              </a:spcAft>
              <a:buNone/>
            </a:pP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Functions of the network layer:</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Provides logical addresses for network devices.</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Routes and forwards data packets.</a:t>
            </a:r>
          </a:p>
          <a:p>
            <a:pPr marL="342900" marR="0" lvl="0" indent="-342900">
              <a:lnSpc>
                <a:spcPct val="107000"/>
              </a:lnSpc>
              <a:spcAft>
                <a:spcPts val="800"/>
              </a:spcAft>
              <a:buSzPts val="1000"/>
              <a:buFont typeface="Symbol" panose="05050102010706020507" pitchFamily="18" charset="2"/>
              <a:buChar char=""/>
              <a:tabLst>
                <a:tab pos="457200" algn="l"/>
              </a:tabLst>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Common network layer protocols include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IPv4</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IPv6</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ICMP</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IGMP</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14" name="Picture 13">
            <a:extLst>
              <a:ext uri="{FF2B5EF4-FFF2-40B4-BE49-F238E27FC236}">
                <a16:creationId xmlns:a16="http://schemas.microsoft.com/office/drawing/2014/main" id="{9E3C3D91-4EA0-02E5-673A-6CC4DC1FC696}"/>
              </a:ext>
            </a:extLst>
          </p:cNvPr>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Lst>
          </a:blip>
          <a:stretch>
            <a:fillRect/>
          </a:stretch>
        </p:blipFill>
        <p:spPr>
          <a:xfrm>
            <a:off x="578124" y="5126748"/>
            <a:ext cx="11123793" cy="703125"/>
          </a:xfrm>
          <a:prstGeom prst="rect">
            <a:avLst/>
          </a:prstGeom>
        </p:spPr>
      </p:pic>
      <p:sp>
        <p:nvSpPr>
          <p:cNvPr id="15" name="TextBox 14">
            <a:extLst>
              <a:ext uri="{FF2B5EF4-FFF2-40B4-BE49-F238E27FC236}">
                <a16:creationId xmlns:a16="http://schemas.microsoft.com/office/drawing/2014/main" id="{FEE5BAA9-825E-F711-1CA1-779DF0B145F2}"/>
              </a:ext>
            </a:extLst>
          </p:cNvPr>
          <p:cNvSpPr txBox="1"/>
          <p:nvPr/>
        </p:nvSpPr>
        <p:spPr>
          <a:xfrm>
            <a:off x="1116349" y="5794950"/>
            <a:ext cx="2388346" cy="369332"/>
          </a:xfrm>
          <a:prstGeom prst="rect">
            <a:avLst/>
          </a:prstGeom>
          <a:noFill/>
        </p:spPr>
        <p:txBody>
          <a:bodyPr wrap="none" rtlCol="0">
            <a:spAutoFit/>
          </a:bodyPr>
          <a:lstStyle/>
          <a:p>
            <a:r>
              <a:rPr lang="en-US" b="1" dirty="0"/>
              <a:t>Standard TCP/IP model</a:t>
            </a:r>
            <a:endParaRPr lang="en-GB" b="1" dirty="0"/>
          </a:p>
        </p:txBody>
      </p:sp>
      <p:sp>
        <p:nvSpPr>
          <p:cNvPr id="16" name="TextBox 15">
            <a:extLst>
              <a:ext uri="{FF2B5EF4-FFF2-40B4-BE49-F238E27FC236}">
                <a16:creationId xmlns:a16="http://schemas.microsoft.com/office/drawing/2014/main" id="{113AC708-14B3-04BE-6824-BF98ECE8749F}"/>
              </a:ext>
            </a:extLst>
          </p:cNvPr>
          <p:cNvSpPr txBox="1"/>
          <p:nvPr/>
        </p:nvSpPr>
        <p:spPr>
          <a:xfrm>
            <a:off x="5555566" y="5785451"/>
            <a:ext cx="1168910" cy="369332"/>
          </a:xfrm>
          <a:prstGeom prst="rect">
            <a:avLst/>
          </a:prstGeom>
          <a:noFill/>
        </p:spPr>
        <p:txBody>
          <a:bodyPr wrap="none" rtlCol="0">
            <a:spAutoFit/>
          </a:bodyPr>
          <a:lstStyle/>
          <a:p>
            <a:r>
              <a:rPr lang="en-US" b="1" dirty="0"/>
              <a:t>OSI model</a:t>
            </a:r>
            <a:endParaRPr lang="en-GB" b="1" dirty="0"/>
          </a:p>
        </p:txBody>
      </p:sp>
      <p:sp>
        <p:nvSpPr>
          <p:cNvPr id="17" name="TextBox 16">
            <a:extLst>
              <a:ext uri="{FF2B5EF4-FFF2-40B4-BE49-F238E27FC236}">
                <a16:creationId xmlns:a16="http://schemas.microsoft.com/office/drawing/2014/main" id="{7BA022CB-F84A-9F0E-00D2-4E4051E46B8F}"/>
              </a:ext>
            </a:extLst>
          </p:cNvPr>
          <p:cNvSpPr txBox="1"/>
          <p:nvPr/>
        </p:nvSpPr>
        <p:spPr>
          <a:xfrm>
            <a:off x="8582024" y="5785451"/>
            <a:ext cx="2581669" cy="369332"/>
          </a:xfrm>
          <a:prstGeom prst="rect">
            <a:avLst/>
          </a:prstGeom>
          <a:noFill/>
        </p:spPr>
        <p:txBody>
          <a:bodyPr wrap="none" rtlCol="0">
            <a:spAutoFit/>
          </a:bodyPr>
          <a:lstStyle/>
          <a:p>
            <a:r>
              <a:rPr lang="en-US" b="1" dirty="0"/>
              <a:t>Equivalent  TCP/IP model</a:t>
            </a:r>
            <a:endParaRPr lang="en-GB" b="1" dirty="0"/>
          </a:p>
        </p:txBody>
      </p:sp>
      <p:sp>
        <p:nvSpPr>
          <p:cNvPr id="18" name="TextBox 17">
            <a:extLst>
              <a:ext uri="{FF2B5EF4-FFF2-40B4-BE49-F238E27FC236}">
                <a16:creationId xmlns:a16="http://schemas.microsoft.com/office/drawing/2014/main" id="{F5881CE3-64B4-0FD1-AB44-9CD211DCB66C}"/>
              </a:ext>
            </a:extLst>
          </p:cNvPr>
          <p:cNvSpPr txBox="1"/>
          <p:nvPr/>
        </p:nvSpPr>
        <p:spPr>
          <a:xfrm>
            <a:off x="5401738" y="4650293"/>
            <a:ext cx="1388522" cy="369332"/>
          </a:xfrm>
          <a:prstGeom prst="rect">
            <a:avLst/>
          </a:prstGeom>
          <a:noFill/>
        </p:spPr>
        <p:txBody>
          <a:bodyPr wrap="none" rtlCol="0">
            <a:spAutoFit/>
          </a:bodyPr>
          <a:lstStyle/>
          <a:p>
            <a:r>
              <a:rPr lang="en-US" b="1" u="sng" dirty="0"/>
              <a:t>OSI MAPING</a:t>
            </a:r>
            <a:endParaRPr lang="en-GB" b="1" u="sng" dirty="0"/>
          </a:p>
        </p:txBody>
      </p:sp>
      <p:sp>
        <p:nvSpPr>
          <p:cNvPr id="4" name="TextBox 3">
            <a:extLst>
              <a:ext uri="{FF2B5EF4-FFF2-40B4-BE49-F238E27FC236}">
                <a16:creationId xmlns:a16="http://schemas.microsoft.com/office/drawing/2014/main" id="{7EF0795B-26F1-D152-D50A-B791E4B9AF00}"/>
              </a:ext>
            </a:extLst>
          </p:cNvPr>
          <p:cNvSpPr txBox="1"/>
          <p:nvPr/>
        </p:nvSpPr>
        <p:spPr>
          <a:xfrm>
            <a:off x="5053084" y="534317"/>
            <a:ext cx="2384946" cy="373692"/>
          </a:xfrm>
          <a:prstGeom prst="rect">
            <a:avLst/>
          </a:prstGeom>
          <a:noFill/>
        </p:spPr>
        <p:txBody>
          <a:bodyPr wrap="square">
            <a:spAutoFit/>
          </a:bodyPr>
          <a:lstStyle/>
          <a:p>
            <a:pPr marL="0" marR="0">
              <a:lnSpc>
                <a:spcPct val="107000"/>
              </a:lnSpc>
              <a:spcAft>
                <a:spcPts val="800"/>
              </a:spcAft>
              <a:buNone/>
            </a:pPr>
            <a:r>
              <a:rPr lang="en-GB" sz="1800" b="1" kern="100" dirty="0">
                <a:effectLst/>
                <a:latin typeface="Segoe UI Emoji" panose="020B0502040204020203" pitchFamily="34" charset="0"/>
                <a:ea typeface="Calibri" panose="020F0502020204030204" pitchFamily="34" charset="0"/>
                <a:cs typeface="Segoe UI Emoji" panose="020B0502040204020203" pitchFamily="34" charset="0"/>
              </a:rPr>
              <a:t>NETWORK LAYER</a:t>
            </a:r>
            <a:endParaRPr lang="en-GB"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59967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A0C94-34F5-82FB-C514-4F88C9961C1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9847B43-BD8B-4DC3-A645-4A10BCA7259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Lst>
          </a:blip>
          <a:stretch>
            <a:fillRect/>
          </a:stretch>
        </p:blipFill>
        <p:spPr>
          <a:xfrm>
            <a:off x="651620" y="2002537"/>
            <a:ext cx="10647467" cy="3511159"/>
          </a:xfrm>
          <a:prstGeom prst="rect">
            <a:avLst/>
          </a:prstGeom>
        </p:spPr>
      </p:pic>
      <p:sp>
        <p:nvSpPr>
          <p:cNvPr id="5" name="TextBox 4">
            <a:extLst>
              <a:ext uri="{FF2B5EF4-FFF2-40B4-BE49-F238E27FC236}">
                <a16:creationId xmlns:a16="http://schemas.microsoft.com/office/drawing/2014/main" id="{FCB7326E-CF06-ED43-6AC8-EDB10255D3B2}"/>
              </a:ext>
            </a:extLst>
          </p:cNvPr>
          <p:cNvSpPr txBox="1"/>
          <p:nvPr/>
        </p:nvSpPr>
        <p:spPr>
          <a:xfrm>
            <a:off x="4022553" y="1159718"/>
            <a:ext cx="3905599" cy="369332"/>
          </a:xfrm>
          <a:prstGeom prst="rect">
            <a:avLst/>
          </a:prstGeom>
          <a:noFill/>
        </p:spPr>
        <p:txBody>
          <a:bodyPr wrap="square" rtlCol="0">
            <a:spAutoFit/>
          </a:bodyPr>
          <a:lstStyle/>
          <a:p>
            <a:pPr algn="ctr"/>
            <a:r>
              <a:rPr lang="en-US" b="1" dirty="0"/>
              <a:t>DATA ENCAPSULATION AT THE SENDER </a:t>
            </a:r>
            <a:endParaRPr lang="en-GB" b="1" dirty="0"/>
          </a:p>
        </p:txBody>
      </p:sp>
    </p:spTree>
    <p:extLst>
      <p:ext uri="{BB962C8B-B14F-4D97-AF65-F5344CB8AC3E}">
        <p14:creationId xmlns:p14="http://schemas.microsoft.com/office/powerpoint/2010/main" val="270872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41864-7613-5B3D-1888-70FFF89849E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A420083A-F852-E304-FD2B-88D0A3F95E2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 uri="{28A0092B-C50C-407E-A947-70E740481C1C}">
                <a14:useLocalDpi xmlns:a14="http://schemas.microsoft.com/office/drawing/2010/main" val="0"/>
              </a:ext>
            </a:extLst>
          </a:blip>
          <a:srcRect l="10075"/>
          <a:stretch>
            <a:fillRect/>
          </a:stretch>
        </p:blipFill>
        <p:spPr>
          <a:xfrm>
            <a:off x="2589602" y="814547"/>
            <a:ext cx="7012795" cy="2322622"/>
          </a:xfrm>
          <a:prstGeom prst="rect">
            <a:avLst/>
          </a:prstGeom>
        </p:spPr>
      </p:pic>
      <p:sp>
        <p:nvSpPr>
          <p:cNvPr id="10" name="TextBox 9">
            <a:extLst>
              <a:ext uri="{FF2B5EF4-FFF2-40B4-BE49-F238E27FC236}">
                <a16:creationId xmlns:a16="http://schemas.microsoft.com/office/drawing/2014/main" id="{E7801E46-B55B-BC8E-9272-6E350579CBC0}"/>
              </a:ext>
            </a:extLst>
          </p:cNvPr>
          <p:cNvSpPr txBox="1"/>
          <p:nvPr/>
        </p:nvSpPr>
        <p:spPr>
          <a:xfrm>
            <a:off x="809487" y="3848217"/>
            <a:ext cx="10640985" cy="2358915"/>
          </a:xfrm>
          <a:prstGeom prst="rect">
            <a:avLst/>
          </a:prstGeom>
          <a:noFill/>
        </p:spPr>
        <p:txBody>
          <a:bodyPr wrap="square">
            <a:spAutoFit/>
          </a:bodyPr>
          <a:lstStyle/>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The network layer header of a packet sent by a source device carries the network layer addresses of the source and destination devices.</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Each network device (such as a router) that has the routing function maintains a </a:t>
            </a:r>
            <a:r>
              <a:rPr lang="en-GB" sz="1800" b="1" kern="100" dirty="0">
                <a:effectLst/>
                <a:latin typeface="Calibri" panose="020F0502020204030204" pitchFamily="34" charset="0"/>
                <a:ea typeface="Calibri" panose="020F0502020204030204" pitchFamily="34" charset="0"/>
                <a:cs typeface="Times New Roman" panose="02020603050405020304" pitchFamily="18" charset="0"/>
              </a:rPr>
              <a:t>routing table</a:t>
            </a: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 (like a map of the network device).</a:t>
            </a:r>
          </a:p>
          <a:p>
            <a:pPr marL="285750" marR="0" indent="-285750" algn="just">
              <a:lnSpc>
                <a:spcPct val="107000"/>
              </a:lnSpc>
              <a:spcAft>
                <a:spcPts val="800"/>
              </a:spcAft>
              <a:buFont typeface="Arial" panose="020B0604020202020204" pitchFamily="34" charset="0"/>
              <a:buChar char="•"/>
            </a:pPr>
            <a:r>
              <a:rPr lang="en-GB" sz="1800" kern="100" dirty="0">
                <a:effectLst/>
                <a:latin typeface="Calibri" panose="020F0502020204030204" pitchFamily="34" charset="0"/>
                <a:ea typeface="Calibri" panose="020F0502020204030204" pitchFamily="34" charset="0"/>
                <a:cs typeface="Times New Roman" panose="02020603050405020304" pitchFamily="18" charset="0"/>
              </a:rPr>
              <a:t>After receiving a packet, the network device reads the network layer destination address of the packet, searches the routing table for the matching entry of the destination address, and forwards the packet according to the instruction of the matching entry.</a:t>
            </a:r>
          </a:p>
        </p:txBody>
      </p:sp>
      <p:sp>
        <p:nvSpPr>
          <p:cNvPr id="13" name="TextBox 12">
            <a:extLst>
              <a:ext uri="{FF2B5EF4-FFF2-40B4-BE49-F238E27FC236}">
                <a16:creationId xmlns:a16="http://schemas.microsoft.com/office/drawing/2014/main" id="{92307E64-87F9-B59D-7E36-D4363086530F}"/>
              </a:ext>
            </a:extLst>
          </p:cNvPr>
          <p:cNvSpPr txBox="1"/>
          <p:nvPr/>
        </p:nvSpPr>
        <p:spPr>
          <a:xfrm>
            <a:off x="2427213" y="1979702"/>
            <a:ext cx="1765804" cy="307777"/>
          </a:xfrm>
          <a:prstGeom prst="rect">
            <a:avLst/>
          </a:prstGeom>
          <a:noFill/>
        </p:spPr>
        <p:txBody>
          <a:bodyPr wrap="none" rtlCol="0">
            <a:spAutoFit/>
          </a:bodyPr>
          <a:lstStyle/>
          <a:p>
            <a:r>
              <a:rPr lang="en-US" sz="1400" dirty="0"/>
              <a:t>Source Ip 192.168.0.2</a:t>
            </a:r>
            <a:endParaRPr lang="en-GB" sz="1400" dirty="0"/>
          </a:p>
        </p:txBody>
      </p:sp>
      <p:sp>
        <p:nvSpPr>
          <p:cNvPr id="14" name="TextBox 13">
            <a:extLst>
              <a:ext uri="{FF2B5EF4-FFF2-40B4-BE49-F238E27FC236}">
                <a16:creationId xmlns:a16="http://schemas.microsoft.com/office/drawing/2014/main" id="{46E8B16C-DD6B-FD62-DB48-7FA74FBF529F}"/>
              </a:ext>
            </a:extLst>
          </p:cNvPr>
          <p:cNvSpPr txBox="1"/>
          <p:nvPr/>
        </p:nvSpPr>
        <p:spPr>
          <a:xfrm>
            <a:off x="7582742" y="3121223"/>
            <a:ext cx="1928285" cy="307777"/>
          </a:xfrm>
          <a:prstGeom prst="rect">
            <a:avLst/>
          </a:prstGeom>
          <a:noFill/>
        </p:spPr>
        <p:txBody>
          <a:bodyPr wrap="none" rtlCol="0">
            <a:spAutoFit/>
          </a:bodyPr>
          <a:lstStyle/>
          <a:p>
            <a:r>
              <a:rPr lang="en-US" sz="1400" dirty="0"/>
              <a:t>Destination IP 122.3.3.1</a:t>
            </a:r>
            <a:endParaRPr lang="en-GB" sz="1400" dirty="0"/>
          </a:p>
        </p:txBody>
      </p:sp>
    </p:spTree>
    <p:extLst>
      <p:ext uri="{BB962C8B-B14F-4D97-AF65-F5344CB8AC3E}">
        <p14:creationId xmlns:p14="http://schemas.microsoft.com/office/powerpoint/2010/main" val="3561876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2896</TotalTime>
  <Words>195</Words>
  <Application>Microsoft Office PowerPoint</Application>
  <PresentationFormat>Widescreen</PresentationFormat>
  <Paragraphs>19</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Segoe UI Emoji</vt:lpstr>
      <vt:lpstr>Symbol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BgCyberry .</dc:creator>
  <cp:lastModifiedBy>Risa Koila</cp:lastModifiedBy>
  <cp:revision>84</cp:revision>
  <dcterms:created xsi:type="dcterms:W3CDTF">2026-03-30T22:33:57Z</dcterms:created>
  <dcterms:modified xsi:type="dcterms:W3CDTF">2026-10-01T17:14:35Z</dcterms:modified>
</cp:coreProperties>
</file>